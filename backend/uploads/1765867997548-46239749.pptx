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arlow Condensed Bold" charset="1" panose="00000806000000000000"/>
      <p:regular r:id="rId22"/>
    </p:embeddedFont>
    <p:embeddedFont>
      <p:font typeface="Barlow Condensed" charset="1" panose="00000506000000000000"/>
      <p:regular r:id="rId23"/>
    </p:embeddedFont>
    <p:embeddedFont>
      <p:font typeface="Barlow Bold" charset="1" panose="00000800000000000000"/>
      <p:regular r:id="rId24"/>
    </p:embeddedFont>
    <p:embeddedFont>
      <p:font typeface="Barlow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42469" y="0"/>
            <a:ext cx="5416831" cy="12022429"/>
            <a:chOff x="0" y="0"/>
            <a:chExt cx="2858770" cy="6344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60392" t="0" r="-16354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7109187"/>
            <a:ext cx="1028700" cy="3177813"/>
            <a:chOff x="0" y="0"/>
            <a:chExt cx="812800" cy="2510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2558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259300" y="0"/>
            <a:ext cx="1028700" cy="10287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609914" y="0"/>
            <a:ext cx="1694792" cy="10287000"/>
            <a:chOff x="0" y="0"/>
            <a:chExt cx="446365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636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1559" y="8180615"/>
            <a:ext cx="4176257" cy="561657"/>
            <a:chOff x="0" y="0"/>
            <a:chExt cx="1099919" cy="1479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9919" cy="147926"/>
            </a:xfrm>
            <a:custGeom>
              <a:avLst/>
              <a:gdLst/>
              <a:ahLst/>
              <a:cxnLst/>
              <a:rect r="r" b="b" t="t" l="l"/>
              <a:pathLst>
                <a:path h="147926" w="1099919">
                  <a:moveTo>
                    <a:pt x="73963" y="0"/>
                  </a:moveTo>
                  <a:lnTo>
                    <a:pt x="1025956" y="0"/>
                  </a:lnTo>
                  <a:cubicBezTo>
                    <a:pt x="1066805" y="0"/>
                    <a:pt x="1099919" y="33114"/>
                    <a:pt x="1099919" y="73963"/>
                  </a:cubicBezTo>
                  <a:lnTo>
                    <a:pt x="1099919" y="73963"/>
                  </a:lnTo>
                  <a:cubicBezTo>
                    <a:pt x="1099919" y="114812"/>
                    <a:pt x="1066805" y="147926"/>
                    <a:pt x="1025956" y="147926"/>
                  </a:cubicBezTo>
                  <a:lnTo>
                    <a:pt x="73963" y="147926"/>
                  </a:lnTo>
                  <a:cubicBezTo>
                    <a:pt x="33114" y="147926"/>
                    <a:pt x="0" y="114812"/>
                    <a:pt x="0" y="73963"/>
                  </a:cubicBezTo>
                  <a:lnTo>
                    <a:pt x="0" y="73963"/>
                  </a:lnTo>
                  <a:cubicBezTo>
                    <a:pt x="0" y="33114"/>
                    <a:pt x="33114" y="0"/>
                    <a:pt x="7396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99919" cy="205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Nhóm: 1 - L01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53887" y="786854"/>
            <a:ext cx="1977164" cy="197716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84493" y="9014056"/>
            <a:ext cx="2545888" cy="254588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71559" y="514350"/>
            <a:ext cx="2088128" cy="1476481"/>
          </a:xfrm>
          <a:custGeom>
            <a:avLst/>
            <a:gdLst/>
            <a:ahLst/>
            <a:cxnLst/>
            <a:rect r="r" b="b" t="t" l="l"/>
            <a:pathLst>
              <a:path h="1476481" w="2088128">
                <a:moveTo>
                  <a:pt x="0" y="0"/>
                </a:moveTo>
                <a:lnTo>
                  <a:pt x="2088129" y="0"/>
                </a:lnTo>
                <a:lnTo>
                  <a:pt x="2088129" y="1476481"/>
                </a:lnTo>
                <a:lnTo>
                  <a:pt x="0" y="1476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71559" y="3673482"/>
            <a:ext cx="8795646" cy="287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0"/>
              </a:lnSpc>
            </a:pPr>
            <a:r>
              <a:rPr lang="en-US" sz="9800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HỆ THỐNG QUẢN LÝ LỚP HỌC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38234" y="7479724"/>
            <a:ext cx="5503645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GVHD: TRƯƠNG QUỲNH CHI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26693" y="863054"/>
            <a:ext cx="673629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3199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TRƯỜNG ĐẠI HỌC BÁCH KHOA - ĐHQG-HCM</a:t>
            </a:r>
          </a:p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KHOA KHOA HỌC VÀ KĨ THUẬT MÁY TÍNH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38234" y="2726062"/>
            <a:ext cx="75057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ĐỒ ÁN TỔNG HỢP - HỆ THỐNG THÔNG TIN (CO3105)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5429066" cy="10287000"/>
            <a:chOff x="0" y="0"/>
            <a:chExt cx="7238755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088" t="0" r="3088" b="0"/>
            <a:stretch>
              <a:fillRect/>
            </a:stretch>
          </p:blipFill>
          <p:spPr>
            <a:xfrm flipH="false" flipV="false">
              <a:off x="0" y="0"/>
              <a:ext cx="7238755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7259300" y="0"/>
            <a:ext cx="1694792" cy="10287000"/>
            <a:chOff x="0" y="0"/>
            <a:chExt cx="44636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4636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109187"/>
            <a:ext cx="1028700" cy="3177813"/>
            <a:chOff x="0" y="0"/>
            <a:chExt cx="812800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2558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97118" y="3155070"/>
            <a:ext cx="969409" cy="96940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97118" y="4336016"/>
            <a:ext cx="969409" cy="96940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97118" y="5516962"/>
            <a:ext cx="969409" cy="96940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297118" y="7874880"/>
            <a:ext cx="969409" cy="96940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11231" y="1028700"/>
            <a:ext cx="1652841" cy="165284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14124" y="816351"/>
            <a:ext cx="771724" cy="77172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919457" y="8414693"/>
            <a:ext cx="3744615" cy="374461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297118" y="683001"/>
            <a:ext cx="7494647" cy="116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7"/>
              </a:lnSpc>
            </a:pPr>
            <a:r>
              <a:rPr lang="en-US" sz="6776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NỘI DUNG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85829" y="3252424"/>
            <a:ext cx="7351823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Tổng quan dự án và nhóm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85829" y="4433370"/>
            <a:ext cx="7351823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Môi trường và Công nghệ Triển khai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485829" y="7972233"/>
            <a:ext cx="7351823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Kết quả dự án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85829" y="5614316"/>
            <a:ext cx="7351823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Kết quả, hạn chế và hướng phát triển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297118" y="6695921"/>
            <a:ext cx="969409" cy="969409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04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485829" y="6793275"/>
            <a:ext cx="7351823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Bài học kinh nghiệm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9440" y="0"/>
            <a:ext cx="6547713" cy="10287000"/>
            <a:chOff x="0" y="0"/>
            <a:chExt cx="1724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4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24501">
                  <a:moveTo>
                    <a:pt x="0" y="0"/>
                  </a:moveTo>
                  <a:lnTo>
                    <a:pt x="1724501" y="0"/>
                  </a:lnTo>
                  <a:lnTo>
                    <a:pt x="1724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2450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740861" y="6749958"/>
            <a:ext cx="4596322" cy="459632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721077" y="2699604"/>
          <a:ext cx="11188376" cy="6543728"/>
        </p:xfrm>
        <a:graphic>
          <a:graphicData uri="http://schemas.openxmlformats.org/drawingml/2006/table">
            <a:tbl>
              <a:tblPr/>
              <a:tblGrid>
                <a:gridCol w="5594188"/>
                <a:gridCol w="5594188"/>
              </a:tblGrid>
              <a:tr h="1212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Họ và tên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 b="true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Mã số sinh viên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670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Trần Hữu Nguyên Sơn (leader)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2312981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2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Đào Xuân Sơn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2312954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5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Nguyễn Thị Quỳnh Tâm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2313037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55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Lê Quốc Thái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20"/>
                        </a:lnSpc>
                        <a:defRPr/>
                      </a:pPr>
                      <a:r>
                        <a:rPr lang="en-US" sz="33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2313097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72435" y="4216400"/>
            <a:ext cx="5925839" cy="174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1. TỔNG QUAN DỰ ÁN VÀ NHÓM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67191" y="923925"/>
            <a:ext cx="4096147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Thành viên nhóm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9440" y="0"/>
            <a:ext cx="6547713" cy="10287000"/>
            <a:chOff x="0" y="0"/>
            <a:chExt cx="1724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4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24501">
                  <a:moveTo>
                    <a:pt x="0" y="0"/>
                  </a:moveTo>
                  <a:lnTo>
                    <a:pt x="1724501" y="0"/>
                  </a:lnTo>
                  <a:lnTo>
                    <a:pt x="1724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24501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43354" y="2374195"/>
            <a:ext cx="846321" cy="859974"/>
            <a:chOff x="0" y="0"/>
            <a:chExt cx="939308" cy="9544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9308" cy="954461"/>
            </a:xfrm>
            <a:custGeom>
              <a:avLst/>
              <a:gdLst/>
              <a:ahLst/>
              <a:cxnLst/>
              <a:rect r="r" b="b" t="t" l="l"/>
              <a:pathLst>
                <a:path h="954461" w="939308">
                  <a:moveTo>
                    <a:pt x="469654" y="0"/>
                  </a:moveTo>
                  <a:cubicBezTo>
                    <a:pt x="210271" y="0"/>
                    <a:pt x="0" y="213663"/>
                    <a:pt x="0" y="477230"/>
                  </a:cubicBezTo>
                  <a:cubicBezTo>
                    <a:pt x="0" y="740797"/>
                    <a:pt x="210271" y="954461"/>
                    <a:pt x="469654" y="954461"/>
                  </a:cubicBezTo>
                  <a:cubicBezTo>
                    <a:pt x="729037" y="954461"/>
                    <a:pt x="939308" y="740797"/>
                    <a:pt x="939308" y="477230"/>
                  </a:cubicBezTo>
                  <a:cubicBezTo>
                    <a:pt x="939308" y="213663"/>
                    <a:pt x="729037" y="0"/>
                    <a:pt x="469654" y="0"/>
                  </a:cubicBezTo>
                  <a:close/>
                </a:path>
              </a:pathLst>
            </a:custGeom>
            <a:solidFill>
              <a:srgbClr val="0345E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88060" y="32331"/>
              <a:ext cx="763188" cy="832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184925" y="3287937"/>
            <a:ext cx="9328172" cy="2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07" indent="-313054" lvl="1">
              <a:lnSpc>
                <a:spcPts val="4494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Là một nền tảng web được xây dựng nhằm số hóa và hợp lý hóa các hoạt động quản lý, giảng dạy và học tập trong phạm vi lớp học. </a:t>
            </a:r>
          </a:p>
          <a:p>
            <a:pPr algn="just" marL="626107" indent="-313054" lvl="1">
              <a:lnSpc>
                <a:spcPts val="4494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Hệ thống tập trung vào các chức năng cốt lõi: quản lý lớp học – giao và nộp bài – chấm điểm – trao đổi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78430" y="2433341"/>
            <a:ext cx="5503645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Mô tả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243354" y="7022287"/>
            <a:ext cx="846321" cy="859974"/>
            <a:chOff x="0" y="0"/>
            <a:chExt cx="939308" cy="954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9308" cy="954461"/>
            </a:xfrm>
            <a:custGeom>
              <a:avLst/>
              <a:gdLst/>
              <a:ahLst/>
              <a:cxnLst/>
              <a:rect r="r" b="b" t="t" l="l"/>
              <a:pathLst>
                <a:path h="954461" w="939308">
                  <a:moveTo>
                    <a:pt x="469654" y="0"/>
                  </a:moveTo>
                  <a:cubicBezTo>
                    <a:pt x="210271" y="0"/>
                    <a:pt x="0" y="213663"/>
                    <a:pt x="0" y="477230"/>
                  </a:cubicBezTo>
                  <a:cubicBezTo>
                    <a:pt x="0" y="740797"/>
                    <a:pt x="210271" y="954461"/>
                    <a:pt x="469654" y="954461"/>
                  </a:cubicBezTo>
                  <a:cubicBezTo>
                    <a:pt x="729037" y="954461"/>
                    <a:pt x="939308" y="740797"/>
                    <a:pt x="939308" y="477230"/>
                  </a:cubicBezTo>
                  <a:cubicBezTo>
                    <a:pt x="939308" y="213663"/>
                    <a:pt x="729037" y="0"/>
                    <a:pt x="469654" y="0"/>
                  </a:cubicBezTo>
                  <a:close/>
                </a:path>
              </a:pathLst>
            </a:custGeom>
            <a:solidFill>
              <a:srgbClr val="0345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88060" y="32331"/>
              <a:ext cx="763188" cy="832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40861" y="6749958"/>
            <a:ext cx="4596322" cy="459632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278430" y="7649849"/>
            <a:ext cx="9328172" cy="16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07" indent="-313054" lvl="1">
              <a:lnSpc>
                <a:spcPts val="4494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Giảm tải công việc hành chính cho giáo viên. </a:t>
            </a:r>
          </a:p>
          <a:p>
            <a:pPr algn="just" marL="626107" indent="-313054" lvl="1">
              <a:lnSpc>
                <a:spcPts val="4494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Giúp sinh viên dễ dàng theo dõi tiến độ học tập. </a:t>
            </a:r>
          </a:p>
          <a:p>
            <a:pPr algn="just" marL="626107" indent="-313054" lvl="1">
              <a:lnSpc>
                <a:spcPts val="4494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Tăng cường tương tác trong lớp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78430" y="7090958"/>
            <a:ext cx="550364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Mục tiêu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99341" y="339247"/>
            <a:ext cx="550364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TỔNG QUAN DỰ ÁN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2435" y="4216400"/>
            <a:ext cx="5925839" cy="174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1. TỔNG QUAN DỰ ÁN VÀ NHÓM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951" y="6954065"/>
            <a:ext cx="5421286" cy="2799389"/>
            <a:chOff x="0" y="0"/>
            <a:chExt cx="1427828" cy="737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27828" cy="78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9853" y="3187935"/>
            <a:ext cx="5089482" cy="6417970"/>
            <a:chOff x="0" y="0"/>
            <a:chExt cx="1340440" cy="16903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40440" cy="1737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58848" y="2082188"/>
            <a:ext cx="2211493" cy="22114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34302" y="6954065"/>
            <a:ext cx="5421286" cy="2799389"/>
            <a:chOff x="0" y="0"/>
            <a:chExt cx="1427828" cy="737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27828" cy="78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00203" y="3187935"/>
            <a:ext cx="5089482" cy="6417970"/>
            <a:chOff x="0" y="0"/>
            <a:chExt cx="1340440" cy="16903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40440" cy="1737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39198" y="2082188"/>
            <a:ext cx="2211493" cy="221149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12763" y="6954065"/>
            <a:ext cx="5421286" cy="2799389"/>
            <a:chOff x="0" y="0"/>
            <a:chExt cx="1427828" cy="737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7828" cy="737288"/>
            </a:xfrm>
            <a:custGeom>
              <a:avLst/>
              <a:gdLst/>
              <a:ahLst/>
              <a:cxnLst/>
              <a:rect r="r" b="b" t="t" l="l"/>
              <a:pathLst>
                <a:path h="737288" w="1427828">
                  <a:moveTo>
                    <a:pt x="72831" y="0"/>
                  </a:moveTo>
                  <a:lnTo>
                    <a:pt x="1354997" y="0"/>
                  </a:lnTo>
                  <a:cubicBezTo>
                    <a:pt x="1374313" y="0"/>
                    <a:pt x="1392838" y="7673"/>
                    <a:pt x="1406497" y="21332"/>
                  </a:cubicBezTo>
                  <a:cubicBezTo>
                    <a:pt x="1420155" y="34990"/>
                    <a:pt x="1427828" y="53515"/>
                    <a:pt x="1427828" y="72831"/>
                  </a:cubicBezTo>
                  <a:lnTo>
                    <a:pt x="1427828" y="664457"/>
                  </a:lnTo>
                  <a:cubicBezTo>
                    <a:pt x="1427828" y="704680"/>
                    <a:pt x="1395221" y="737288"/>
                    <a:pt x="1354997" y="737288"/>
                  </a:cubicBezTo>
                  <a:lnTo>
                    <a:pt x="72831" y="737288"/>
                  </a:lnTo>
                  <a:cubicBezTo>
                    <a:pt x="32608" y="737288"/>
                    <a:pt x="0" y="704680"/>
                    <a:pt x="0" y="664457"/>
                  </a:cubicBezTo>
                  <a:lnTo>
                    <a:pt x="0" y="72831"/>
                  </a:lnTo>
                  <a:cubicBezTo>
                    <a:pt x="0" y="32608"/>
                    <a:pt x="32608" y="0"/>
                    <a:pt x="72831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427828" cy="784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78664" y="3187935"/>
            <a:ext cx="5089482" cy="6417970"/>
            <a:chOff x="0" y="0"/>
            <a:chExt cx="1340440" cy="16903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0440" cy="1690329"/>
            </a:xfrm>
            <a:custGeom>
              <a:avLst/>
              <a:gdLst/>
              <a:ahLst/>
              <a:cxnLst/>
              <a:rect r="r" b="b" t="t" l="l"/>
              <a:pathLst>
                <a:path h="1690329" w="1340440">
                  <a:moveTo>
                    <a:pt x="77579" y="0"/>
                  </a:moveTo>
                  <a:lnTo>
                    <a:pt x="1262861" y="0"/>
                  </a:lnTo>
                  <a:cubicBezTo>
                    <a:pt x="1305707" y="0"/>
                    <a:pt x="1340440" y="34733"/>
                    <a:pt x="1340440" y="77579"/>
                  </a:cubicBezTo>
                  <a:lnTo>
                    <a:pt x="1340440" y="1612750"/>
                  </a:lnTo>
                  <a:cubicBezTo>
                    <a:pt x="1340440" y="1633325"/>
                    <a:pt x="1332266" y="1653058"/>
                    <a:pt x="1317717" y="1667607"/>
                  </a:cubicBezTo>
                  <a:cubicBezTo>
                    <a:pt x="1303169" y="1682156"/>
                    <a:pt x="1283436" y="1690329"/>
                    <a:pt x="1262861" y="1690329"/>
                  </a:cubicBezTo>
                  <a:lnTo>
                    <a:pt x="77579" y="1690329"/>
                  </a:lnTo>
                  <a:cubicBezTo>
                    <a:pt x="34733" y="1690329"/>
                    <a:pt x="0" y="1655596"/>
                    <a:pt x="0" y="1612750"/>
                  </a:cubicBezTo>
                  <a:lnTo>
                    <a:pt x="0" y="77579"/>
                  </a:lnTo>
                  <a:cubicBezTo>
                    <a:pt x="0" y="57004"/>
                    <a:pt x="8173" y="37271"/>
                    <a:pt x="22722" y="22722"/>
                  </a:cubicBezTo>
                  <a:cubicBezTo>
                    <a:pt x="37271" y="8173"/>
                    <a:pt x="57004" y="0"/>
                    <a:pt x="77579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40440" cy="1737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7659" y="2082188"/>
            <a:ext cx="2211493" cy="221149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0" y="0"/>
            <a:ext cx="17368147" cy="1543194"/>
            <a:chOff x="0" y="0"/>
            <a:chExt cx="4574327" cy="4064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4327" cy="406438"/>
            </a:xfrm>
            <a:custGeom>
              <a:avLst/>
              <a:gdLst/>
              <a:ahLst/>
              <a:cxnLst/>
              <a:rect r="r" b="b" t="t" l="l"/>
              <a:pathLst>
                <a:path h="406438" w="4574327">
                  <a:moveTo>
                    <a:pt x="0" y="0"/>
                  </a:moveTo>
                  <a:lnTo>
                    <a:pt x="4574327" y="0"/>
                  </a:lnTo>
                  <a:lnTo>
                    <a:pt x="4574327" y="406438"/>
                  </a:lnTo>
                  <a:lnTo>
                    <a:pt x="0" y="40643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574327" cy="454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2625024" y="2680288"/>
            <a:ext cx="1679140" cy="857888"/>
          </a:xfrm>
          <a:custGeom>
            <a:avLst/>
            <a:gdLst/>
            <a:ahLst/>
            <a:cxnLst/>
            <a:rect r="r" b="b" t="t" l="l"/>
            <a:pathLst>
              <a:path h="857888" w="1679140">
                <a:moveTo>
                  <a:pt x="0" y="0"/>
                </a:moveTo>
                <a:lnTo>
                  <a:pt x="1679140" y="0"/>
                </a:lnTo>
                <a:lnTo>
                  <a:pt x="1679140" y="857888"/>
                </a:lnTo>
                <a:lnTo>
                  <a:pt x="0" y="857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373981" y="2410615"/>
            <a:ext cx="1540038" cy="1397234"/>
          </a:xfrm>
          <a:custGeom>
            <a:avLst/>
            <a:gdLst/>
            <a:ahLst/>
            <a:cxnLst/>
            <a:rect r="r" b="b" t="t" l="l"/>
            <a:pathLst>
              <a:path h="1397234" w="1540038">
                <a:moveTo>
                  <a:pt x="0" y="0"/>
                </a:moveTo>
                <a:lnTo>
                  <a:pt x="1540038" y="0"/>
                </a:lnTo>
                <a:lnTo>
                  <a:pt x="1540038" y="1397234"/>
                </a:lnTo>
                <a:lnTo>
                  <a:pt x="0" y="1397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985211" y="2511834"/>
            <a:ext cx="1626580" cy="1194797"/>
          </a:xfrm>
          <a:custGeom>
            <a:avLst/>
            <a:gdLst/>
            <a:ahLst/>
            <a:cxnLst/>
            <a:rect r="r" b="b" t="t" l="l"/>
            <a:pathLst>
              <a:path h="1194797" w="1626580">
                <a:moveTo>
                  <a:pt x="0" y="0"/>
                </a:moveTo>
                <a:lnTo>
                  <a:pt x="1626580" y="0"/>
                </a:lnTo>
                <a:lnTo>
                  <a:pt x="1626580" y="1194797"/>
                </a:lnTo>
                <a:lnTo>
                  <a:pt x="0" y="1194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19853" y="287409"/>
            <a:ext cx="10769833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ĐỐI TƯỢNG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8378" y="4453777"/>
            <a:ext cx="411243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Student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087784" y="4453777"/>
            <a:ext cx="411243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Teacher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67189" y="4453777"/>
            <a:ext cx="411243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Admin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8378" y="5535930"/>
            <a:ext cx="4112433" cy="221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1" indent="-313055" lvl="1">
              <a:lnSpc>
                <a:spcPts val="449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Lớp học của tôi</a:t>
            </a:r>
          </a:p>
          <a:p>
            <a:pPr algn="just" marL="626111" indent="-313055" lvl="1">
              <a:lnSpc>
                <a:spcPts val="449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Nộp bài tập</a:t>
            </a:r>
          </a:p>
          <a:p>
            <a:pPr algn="just" marL="626111" indent="-313055" lvl="1">
              <a:lnSpc>
                <a:spcPts val="449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Tải tài liệu</a:t>
            </a:r>
          </a:p>
          <a:p>
            <a:pPr algn="just" marL="626111" indent="-313055" lvl="1">
              <a:lnSpc>
                <a:spcPts val="449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Thảo luận (Forum)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087784" y="5535930"/>
            <a:ext cx="4112433" cy="165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1" indent="-313055" lvl="1">
              <a:lnSpc>
                <a:spcPts val="449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Quản lý Lớp dạy</a:t>
            </a:r>
          </a:p>
          <a:p>
            <a:pPr algn="just" marL="626111" indent="-313055" lvl="1">
              <a:lnSpc>
                <a:spcPts val="449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Bài tập (Assignments)</a:t>
            </a:r>
          </a:p>
          <a:p>
            <a:pPr algn="just" marL="626111" indent="-313055" lvl="1">
              <a:lnSpc>
                <a:spcPts val="449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Tài liệu (Materials)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67189" y="5535930"/>
            <a:ext cx="4112433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1" indent="-313055" lvl="1">
              <a:lnSpc>
                <a:spcPts val="449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Quản lý User</a:t>
            </a:r>
          </a:p>
          <a:p>
            <a:pPr algn="just" marL="626111" indent="-313055" lvl="1">
              <a:lnSpc>
                <a:spcPts val="4495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Quản lý Lớp học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5429066" cy="10287000"/>
            <a:chOff x="0" y="0"/>
            <a:chExt cx="7238755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0688" t="0" r="10688" b="0"/>
            <a:stretch>
              <a:fillRect/>
            </a:stretch>
          </p:blipFill>
          <p:spPr>
            <a:xfrm flipH="false" flipV="false">
              <a:off x="0" y="0"/>
              <a:ext cx="7238755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7259300" y="0"/>
            <a:ext cx="1694792" cy="10287000"/>
            <a:chOff x="0" y="0"/>
            <a:chExt cx="44636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4636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109187"/>
            <a:ext cx="1028700" cy="3177813"/>
            <a:chOff x="0" y="0"/>
            <a:chExt cx="812800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2558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297118" y="683001"/>
            <a:ext cx="8540534" cy="236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7"/>
              </a:lnSpc>
            </a:pPr>
            <a:r>
              <a:rPr lang="en-US" sz="6776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2. MÔI TRƯỜNG VÀ CÔNG NGHỆ TRIỂN KHAI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81142" y="3626704"/>
            <a:ext cx="969409" cy="96940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81142" y="4896867"/>
            <a:ext cx="969409" cy="96940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011231" y="1028700"/>
            <a:ext cx="1652841" cy="165284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14124" y="816351"/>
            <a:ext cx="771724" cy="77172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19457" y="8414693"/>
            <a:ext cx="3744615" cy="374461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798349" y="3724059"/>
            <a:ext cx="735182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SƠ ĐỒ GANTT VỀ CÔNG VIỆC VÀ TIẾN ĐỘ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98349" y="4994221"/>
            <a:ext cx="735182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BACKEND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566894" y="6171075"/>
            <a:ext cx="969409" cy="96940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784101" y="6234783"/>
            <a:ext cx="735182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FRONTEND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566894" y="7445284"/>
            <a:ext cx="969409" cy="969409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04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784101" y="7508991"/>
            <a:ext cx="735182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CÔNG CỤ HỖ TRỢ KHÁC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27431"/>
            <a:chOff x="0" y="0"/>
            <a:chExt cx="4816593" cy="586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86648"/>
            </a:xfrm>
            <a:custGeom>
              <a:avLst/>
              <a:gdLst/>
              <a:ahLst/>
              <a:cxnLst/>
              <a:rect r="r" b="b" t="t" l="l"/>
              <a:pathLst>
                <a:path h="58664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86648"/>
                  </a:lnTo>
                  <a:lnTo>
                    <a:pt x="0" y="58664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634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593059" y="2729364"/>
            <a:ext cx="1479329" cy="1479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00000">
            <a:off x="350615" y="2521244"/>
            <a:ext cx="771724" cy="77172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287059" y="8247665"/>
            <a:ext cx="2954728" cy="295472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1457879" y="404910"/>
            <a:ext cx="0" cy="14176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83534" y="4218217"/>
            <a:ext cx="17259300" cy="2400057"/>
          </a:xfrm>
          <a:custGeom>
            <a:avLst/>
            <a:gdLst/>
            <a:ahLst/>
            <a:cxnLst/>
            <a:rect r="r" b="b" t="t" l="l"/>
            <a:pathLst>
              <a:path h="2400057" w="17259300">
                <a:moveTo>
                  <a:pt x="0" y="0"/>
                </a:moveTo>
                <a:lnTo>
                  <a:pt x="17259300" y="0"/>
                </a:lnTo>
                <a:lnTo>
                  <a:pt x="17259300" y="2400057"/>
                </a:lnTo>
                <a:lnTo>
                  <a:pt x="0" y="24000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5284" b="-93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97834" y="573087"/>
            <a:ext cx="10681169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2.1. SƠ ĐỒ GANTT VỀ CÔNG VIỆC VÀ TIẾN ĐỘ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26547" y="579046"/>
            <a:ext cx="6532903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Thời gian thực hiện: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Tuần 1 (8/9/2025) - Tuần 15 (16/12/2025)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72388" y="6794500"/>
            <a:ext cx="10387727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Thời gian báo cáo thực tế với giảng viên: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Lần 1: 3/10/2025 - Báo cáo về ý tưởng và usecase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Lần 2: 1/11/2025 - Báo cáo về thiết kế prototype và sơ đồ ERD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Lần 3: 16/12/2025 - Báo cáo tổng kết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12964" y="363609"/>
            <a:ext cx="13961804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2.2. BACKEND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2902" y="3687639"/>
            <a:ext cx="5649052" cy="669452"/>
            <a:chOff x="0" y="0"/>
            <a:chExt cx="3593842" cy="425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Runtime môi trường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2964" y="3687639"/>
            <a:ext cx="669452" cy="66945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5983" y="2118502"/>
            <a:ext cx="1056433" cy="1056433"/>
          </a:xfrm>
          <a:custGeom>
            <a:avLst/>
            <a:gdLst/>
            <a:ahLst/>
            <a:cxnLst/>
            <a:rect r="r" b="b" t="t" l="l"/>
            <a:pathLst>
              <a:path h="1056433" w="1056433">
                <a:moveTo>
                  <a:pt x="0" y="0"/>
                </a:moveTo>
                <a:lnTo>
                  <a:pt x="1056433" y="0"/>
                </a:lnTo>
                <a:lnTo>
                  <a:pt x="1056433" y="1056433"/>
                </a:lnTo>
                <a:lnTo>
                  <a:pt x="0" y="105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72902" y="4366617"/>
            <a:ext cx="794607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Node.js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2902" y="2016139"/>
            <a:ext cx="15210785" cy="115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6"/>
              </a:lnSpc>
              <a:spcBef>
                <a:spcPct val="0"/>
              </a:spcBef>
            </a:pPr>
            <a:r>
              <a:rPr lang="en-US" sz="335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Backend được xây dựng hoàn toàn trên nền tảng Node.js, sử dụng kiến trúc RESTful </a:t>
            </a:r>
          </a:p>
          <a:p>
            <a:pPr algn="l">
              <a:lnSpc>
                <a:spcPts val="4696"/>
              </a:lnSpc>
              <a:spcBef>
                <a:spcPct val="0"/>
              </a:spcBef>
            </a:pPr>
            <a:r>
              <a:rPr lang="en-US" sz="3354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API và được phát triển bằng ngôn ngữ JavaScript.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03439" y="5300067"/>
            <a:ext cx="669452" cy="66945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63377" y="6127277"/>
            <a:ext cx="794607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Express.js (v5.2.1)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72902" y="5319117"/>
            <a:ext cx="5649052" cy="669452"/>
            <a:chOff x="0" y="0"/>
            <a:chExt cx="3593842" cy="4258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WEB FRAMEWORK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3914" y="6965477"/>
            <a:ext cx="669452" cy="66945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53852" y="7792688"/>
            <a:ext cx="794607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MySQL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63377" y="6984527"/>
            <a:ext cx="5649052" cy="669452"/>
            <a:chOff x="0" y="0"/>
            <a:chExt cx="3593842" cy="4258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DATABASE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09474" y="3640014"/>
            <a:ext cx="669452" cy="66945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369412" y="4318992"/>
            <a:ext cx="794607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jsonwebtoken (JWT)</a:t>
            </a:r>
          </a:p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body-parser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553152" y="3640014"/>
            <a:ext cx="5649052" cy="669452"/>
            <a:chOff x="0" y="0"/>
            <a:chExt cx="3593842" cy="42589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BẢO MẬT VÀ XÁC THỰC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09474" y="6222527"/>
            <a:ext cx="669452" cy="669452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369412" y="6901505"/>
            <a:ext cx="7946072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cors</a:t>
            </a:r>
          </a:p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dotenv</a:t>
            </a:r>
          </a:p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nodemon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553152" y="6222527"/>
            <a:ext cx="5649052" cy="669452"/>
            <a:chOff x="0" y="0"/>
            <a:chExt cx="3593842" cy="42589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MIDDLEWARE VÀ CÔNG CỤ DEV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12964" y="363609"/>
            <a:ext cx="13961804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2.2. FRONTEND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44327" y="5218877"/>
            <a:ext cx="5649052" cy="669452"/>
            <a:chOff x="0" y="0"/>
            <a:chExt cx="3593842" cy="425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NGÔN NGỮ LẬP TRÌNH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2489" y="5224236"/>
            <a:ext cx="669452" cy="66945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4802" y="3582042"/>
            <a:ext cx="5649052" cy="669452"/>
            <a:chOff x="0" y="0"/>
            <a:chExt cx="3593842" cy="425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CORE FRAMEWORK/THƯ VIỆN UI: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2964" y="3587400"/>
            <a:ext cx="669452" cy="66945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95116" y="1852052"/>
            <a:ext cx="1105147" cy="1105147"/>
          </a:xfrm>
          <a:custGeom>
            <a:avLst/>
            <a:gdLst/>
            <a:ahLst/>
            <a:cxnLst/>
            <a:rect r="r" b="b" t="t" l="l"/>
            <a:pathLst>
              <a:path h="1105147" w="1105147">
                <a:moveTo>
                  <a:pt x="0" y="0"/>
                </a:moveTo>
                <a:lnTo>
                  <a:pt x="1105147" y="0"/>
                </a:lnTo>
                <a:lnTo>
                  <a:pt x="1105147" y="1105147"/>
                </a:lnTo>
                <a:lnTo>
                  <a:pt x="0" y="1105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24666" y="5925396"/>
            <a:ext cx="1055684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TypeScript và JavaScript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2964" y="4275902"/>
            <a:ext cx="1055684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ReactJS (v18.3)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6033" y="1804427"/>
            <a:ext cx="15268610" cy="120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Giao diện được xây dựng theo kiến trúc Single Page Application (SPA) với công cụ build thế hệ mới, sử dụng thư viện UI phổ biến nhất hiện nay.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72902" y="6801696"/>
            <a:ext cx="5649052" cy="669452"/>
            <a:chOff x="0" y="0"/>
            <a:chExt cx="3593842" cy="4258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BUILD TOOL/COMPILER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51064" y="6807055"/>
            <a:ext cx="669452" cy="66945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53241" y="7508215"/>
            <a:ext cx="643061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Vite (v6.4.1), sử dụng kèm @vitejs/plugin-react-swc.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165591" y="3514634"/>
            <a:ext cx="5649052" cy="669452"/>
            <a:chOff x="0" y="0"/>
            <a:chExt cx="3593842" cy="4258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THIẾT KẾ GIAO DIỆN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43752" y="3519993"/>
            <a:ext cx="669452" cy="669452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345929" y="4221153"/>
            <a:ext cx="643061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Radix UI (@radix-ui/*)</a:t>
            </a:r>
          </a:p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react-hook-form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167768" y="6135463"/>
            <a:ext cx="5649052" cy="669452"/>
            <a:chOff x="0" y="0"/>
            <a:chExt cx="3593842" cy="42589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GỌI API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345929" y="6140821"/>
            <a:ext cx="669452" cy="669452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348106" y="6841982"/>
            <a:ext cx="643061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Axios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16679" cy="10287000"/>
            <a:chOff x="0" y="0"/>
            <a:chExt cx="168998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99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9989">
                  <a:moveTo>
                    <a:pt x="0" y="0"/>
                  </a:moveTo>
                  <a:lnTo>
                    <a:pt x="1689989" y="0"/>
                  </a:lnTo>
                  <a:lnTo>
                    <a:pt x="16899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89989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97121" y="3238815"/>
            <a:ext cx="131010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026637" y="462435"/>
            <a:ext cx="5473113" cy="669452"/>
            <a:chOff x="0" y="0"/>
            <a:chExt cx="3481912" cy="425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81911" cy="425895"/>
            </a:xfrm>
            <a:custGeom>
              <a:avLst/>
              <a:gdLst/>
              <a:ahLst/>
              <a:cxnLst/>
              <a:rect r="r" b="b" t="t" l="l"/>
              <a:pathLst>
                <a:path h="425895" w="3481911">
                  <a:moveTo>
                    <a:pt x="3278711" y="0"/>
                  </a:moveTo>
                  <a:cubicBezTo>
                    <a:pt x="3390936" y="0"/>
                    <a:pt x="3481911" y="95340"/>
                    <a:pt x="3481911" y="212948"/>
                  </a:cubicBezTo>
                  <a:cubicBezTo>
                    <a:pt x="3481911" y="330556"/>
                    <a:pt x="3390936" y="425895"/>
                    <a:pt x="327871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48191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Vẽ biểu đồ:     draw.io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26637" y="1284760"/>
            <a:ext cx="7474654" cy="1954055"/>
            <a:chOff x="0" y="0"/>
            <a:chExt cx="1968633" cy="514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8633" cy="514648"/>
            </a:xfrm>
            <a:custGeom>
              <a:avLst/>
              <a:gdLst/>
              <a:ahLst/>
              <a:cxnLst/>
              <a:rect r="r" b="b" t="t" l="l"/>
              <a:pathLst>
                <a:path h="514648" w="1968633">
                  <a:moveTo>
                    <a:pt x="52824" y="0"/>
                  </a:moveTo>
                  <a:lnTo>
                    <a:pt x="1915809" y="0"/>
                  </a:lnTo>
                  <a:cubicBezTo>
                    <a:pt x="1929819" y="0"/>
                    <a:pt x="1943255" y="5565"/>
                    <a:pt x="1953161" y="15472"/>
                  </a:cubicBezTo>
                  <a:cubicBezTo>
                    <a:pt x="1963068" y="25378"/>
                    <a:pt x="1968633" y="38814"/>
                    <a:pt x="1968633" y="52824"/>
                  </a:cubicBezTo>
                  <a:lnTo>
                    <a:pt x="1968633" y="461825"/>
                  </a:lnTo>
                  <a:cubicBezTo>
                    <a:pt x="1968633" y="490998"/>
                    <a:pt x="1944983" y="514648"/>
                    <a:pt x="1915809" y="514648"/>
                  </a:cubicBezTo>
                  <a:lnTo>
                    <a:pt x="52824" y="514648"/>
                  </a:lnTo>
                  <a:cubicBezTo>
                    <a:pt x="38814" y="514648"/>
                    <a:pt x="25378" y="509083"/>
                    <a:pt x="15472" y="499176"/>
                  </a:cubicBezTo>
                  <a:cubicBezTo>
                    <a:pt x="5565" y="489270"/>
                    <a:pt x="0" y="475834"/>
                    <a:pt x="0" y="461825"/>
                  </a:cubicBezTo>
                  <a:lnTo>
                    <a:pt x="0" y="52824"/>
                  </a:lnTo>
                  <a:cubicBezTo>
                    <a:pt x="0" y="38814"/>
                    <a:pt x="5565" y="25378"/>
                    <a:pt x="15472" y="15472"/>
                  </a:cubicBezTo>
                  <a:cubicBezTo>
                    <a:pt x="25378" y="5565"/>
                    <a:pt x="38814" y="0"/>
                    <a:pt x="52824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68633" cy="562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32646" y="3593101"/>
            <a:ext cx="5473113" cy="669452"/>
            <a:chOff x="0" y="0"/>
            <a:chExt cx="3481912" cy="4258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81911" cy="425895"/>
            </a:xfrm>
            <a:custGeom>
              <a:avLst/>
              <a:gdLst/>
              <a:ahLst/>
              <a:cxnLst/>
              <a:rect r="r" b="b" t="t" l="l"/>
              <a:pathLst>
                <a:path h="425895" w="3481911">
                  <a:moveTo>
                    <a:pt x="3278711" y="0"/>
                  </a:moveTo>
                  <a:cubicBezTo>
                    <a:pt x="3390936" y="0"/>
                    <a:pt x="3481911" y="95340"/>
                    <a:pt x="3481911" y="212948"/>
                  </a:cubicBezTo>
                  <a:cubicBezTo>
                    <a:pt x="3481911" y="330556"/>
                    <a:pt x="3390936" y="425895"/>
                    <a:pt x="327871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48191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Quản lý mã nguồn:     Git + Github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32646" y="4415426"/>
            <a:ext cx="7474654" cy="1954055"/>
            <a:chOff x="0" y="0"/>
            <a:chExt cx="1968633" cy="5146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68633" cy="514648"/>
            </a:xfrm>
            <a:custGeom>
              <a:avLst/>
              <a:gdLst/>
              <a:ahLst/>
              <a:cxnLst/>
              <a:rect r="r" b="b" t="t" l="l"/>
              <a:pathLst>
                <a:path h="514648" w="1968633">
                  <a:moveTo>
                    <a:pt x="52824" y="0"/>
                  </a:moveTo>
                  <a:lnTo>
                    <a:pt x="1915809" y="0"/>
                  </a:lnTo>
                  <a:cubicBezTo>
                    <a:pt x="1929819" y="0"/>
                    <a:pt x="1943255" y="5565"/>
                    <a:pt x="1953161" y="15472"/>
                  </a:cubicBezTo>
                  <a:cubicBezTo>
                    <a:pt x="1963068" y="25378"/>
                    <a:pt x="1968633" y="38814"/>
                    <a:pt x="1968633" y="52824"/>
                  </a:cubicBezTo>
                  <a:lnTo>
                    <a:pt x="1968633" y="461825"/>
                  </a:lnTo>
                  <a:cubicBezTo>
                    <a:pt x="1968633" y="490998"/>
                    <a:pt x="1944983" y="514648"/>
                    <a:pt x="1915809" y="514648"/>
                  </a:cubicBezTo>
                  <a:lnTo>
                    <a:pt x="52824" y="514648"/>
                  </a:lnTo>
                  <a:cubicBezTo>
                    <a:pt x="38814" y="514648"/>
                    <a:pt x="25378" y="509083"/>
                    <a:pt x="15472" y="499176"/>
                  </a:cubicBezTo>
                  <a:cubicBezTo>
                    <a:pt x="5565" y="489270"/>
                    <a:pt x="0" y="475834"/>
                    <a:pt x="0" y="461825"/>
                  </a:cubicBezTo>
                  <a:lnTo>
                    <a:pt x="0" y="52824"/>
                  </a:lnTo>
                  <a:cubicBezTo>
                    <a:pt x="0" y="38814"/>
                    <a:pt x="5565" y="25378"/>
                    <a:pt x="15472" y="15472"/>
                  </a:cubicBezTo>
                  <a:cubicBezTo>
                    <a:pt x="25378" y="5565"/>
                    <a:pt x="38814" y="0"/>
                    <a:pt x="52824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968633" cy="562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26637" y="6723766"/>
            <a:ext cx="5473113" cy="669452"/>
            <a:chOff x="0" y="0"/>
            <a:chExt cx="3481912" cy="4258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81911" cy="425895"/>
            </a:xfrm>
            <a:custGeom>
              <a:avLst/>
              <a:gdLst/>
              <a:ahLst/>
              <a:cxnLst/>
              <a:rect r="r" b="b" t="t" l="l"/>
              <a:pathLst>
                <a:path h="425895" w="3481911">
                  <a:moveTo>
                    <a:pt x="3278711" y="0"/>
                  </a:moveTo>
                  <a:cubicBezTo>
                    <a:pt x="3390936" y="0"/>
                    <a:pt x="3481911" y="95340"/>
                    <a:pt x="3481911" y="212948"/>
                  </a:cubicBezTo>
                  <a:cubicBezTo>
                    <a:pt x="3481911" y="330556"/>
                    <a:pt x="3390936" y="425895"/>
                    <a:pt x="327871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48191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Soạn thảo văn bản:    Overleaf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26637" y="7546091"/>
            <a:ext cx="7474654" cy="1954055"/>
            <a:chOff x="0" y="0"/>
            <a:chExt cx="1968633" cy="5146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68633" cy="514648"/>
            </a:xfrm>
            <a:custGeom>
              <a:avLst/>
              <a:gdLst/>
              <a:ahLst/>
              <a:cxnLst/>
              <a:rect r="r" b="b" t="t" l="l"/>
              <a:pathLst>
                <a:path h="514648" w="1968633">
                  <a:moveTo>
                    <a:pt x="52824" y="0"/>
                  </a:moveTo>
                  <a:lnTo>
                    <a:pt x="1915809" y="0"/>
                  </a:lnTo>
                  <a:cubicBezTo>
                    <a:pt x="1929819" y="0"/>
                    <a:pt x="1943255" y="5565"/>
                    <a:pt x="1953161" y="15472"/>
                  </a:cubicBezTo>
                  <a:cubicBezTo>
                    <a:pt x="1963068" y="25378"/>
                    <a:pt x="1968633" y="38814"/>
                    <a:pt x="1968633" y="52824"/>
                  </a:cubicBezTo>
                  <a:lnTo>
                    <a:pt x="1968633" y="461825"/>
                  </a:lnTo>
                  <a:cubicBezTo>
                    <a:pt x="1968633" y="490998"/>
                    <a:pt x="1944983" y="514648"/>
                    <a:pt x="1915809" y="514648"/>
                  </a:cubicBezTo>
                  <a:lnTo>
                    <a:pt x="52824" y="514648"/>
                  </a:lnTo>
                  <a:cubicBezTo>
                    <a:pt x="38814" y="514648"/>
                    <a:pt x="25378" y="509083"/>
                    <a:pt x="15472" y="499176"/>
                  </a:cubicBezTo>
                  <a:cubicBezTo>
                    <a:pt x="5565" y="489270"/>
                    <a:pt x="0" y="475834"/>
                    <a:pt x="0" y="461825"/>
                  </a:cubicBezTo>
                  <a:lnTo>
                    <a:pt x="0" y="52824"/>
                  </a:lnTo>
                  <a:cubicBezTo>
                    <a:pt x="0" y="38814"/>
                    <a:pt x="5565" y="25378"/>
                    <a:pt x="15472" y="15472"/>
                  </a:cubicBezTo>
                  <a:cubicBezTo>
                    <a:pt x="25378" y="5565"/>
                    <a:pt x="38814" y="0"/>
                    <a:pt x="52824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968633" cy="562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7232646" y="705138"/>
            <a:ext cx="2436760" cy="2436760"/>
          </a:xfrm>
          <a:custGeom>
            <a:avLst/>
            <a:gdLst/>
            <a:ahLst/>
            <a:cxnLst/>
            <a:rect r="r" b="b" t="t" l="l"/>
            <a:pathLst>
              <a:path h="2436760" w="2436760">
                <a:moveTo>
                  <a:pt x="0" y="0"/>
                </a:moveTo>
                <a:lnTo>
                  <a:pt x="2436760" y="0"/>
                </a:lnTo>
                <a:lnTo>
                  <a:pt x="2436760" y="2436760"/>
                </a:lnTo>
                <a:lnTo>
                  <a:pt x="0" y="243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232646" y="7058492"/>
            <a:ext cx="2436760" cy="2436760"/>
          </a:xfrm>
          <a:custGeom>
            <a:avLst/>
            <a:gdLst/>
            <a:ahLst/>
            <a:cxnLst/>
            <a:rect r="r" b="b" t="t" l="l"/>
            <a:pathLst>
              <a:path h="2436760" w="2436760">
                <a:moveTo>
                  <a:pt x="0" y="0"/>
                </a:moveTo>
                <a:lnTo>
                  <a:pt x="2436760" y="0"/>
                </a:lnTo>
                <a:lnTo>
                  <a:pt x="2436760" y="2436760"/>
                </a:lnTo>
                <a:lnTo>
                  <a:pt x="0" y="2436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812753" y="3701213"/>
            <a:ext cx="2446547" cy="1021433"/>
          </a:xfrm>
          <a:custGeom>
            <a:avLst/>
            <a:gdLst/>
            <a:ahLst/>
            <a:cxnLst/>
            <a:rect r="r" b="b" t="t" l="l"/>
            <a:pathLst>
              <a:path h="1021433" w="2446547">
                <a:moveTo>
                  <a:pt x="0" y="0"/>
                </a:moveTo>
                <a:lnTo>
                  <a:pt x="2446547" y="0"/>
                </a:lnTo>
                <a:lnTo>
                  <a:pt x="2446547" y="1021433"/>
                </a:lnTo>
                <a:lnTo>
                  <a:pt x="0" y="1021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844518" y="4875046"/>
            <a:ext cx="2656772" cy="1494434"/>
          </a:xfrm>
          <a:custGeom>
            <a:avLst/>
            <a:gdLst/>
            <a:ahLst/>
            <a:cxnLst/>
            <a:rect r="r" b="b" t="t" l="l"/>
            <a:pathLst>
              <a:path h="1494434" w="2656772">
                <a:moveTo>
                  <a:pt x="0" y="0"/>
                </a:moveTo>
                <a:lnTo>
                  <a:pt x="2656772" y="0"/>
                </a:lnTo>
                <a:lnTo>
                  <a:pt x="2656772" y="1494434"/>
                </a:lnTo>
                <a:lnTo>
                  <a:pt x="0" y="1494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97121" y="923525"/>
            <a:ext cx="5186654" cy="174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2.4. CÔNG CỤ HỖ TRỢ KHÁC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85373" y="1548683"/>
            <a:ext cx="6490794" cy="131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Vẽ Use-case, ERD</a:t>
            </a:r>
          </a:p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Dễ chia sẻ, làm việc nhóm, hỗ trợ export SVG/PDF nhanh chóng.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91383" y="4507898"/>
            <a:ext cx="6490794" cy="176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Tạo nhánh (branch) theo từng Sprint hoặc từng chức năng.</a:t>
            </a:r>
          </a:p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Pull Request để review code và tránh conflict.</a:t>
            </a:r>
          </a:p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Lưu lại toàn bộ lịch sử của dự án.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43807" y="7840893"/>
            <a:ext cx="6773927" cy="131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Viết báo cáo Latex dạng chuyên nghiệp.</a:t>
            </a:r>
          </a:p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Hỗ trợ cộng tác real-time, versioning.</a:t>
            </a:r>
          </a:p>
          <a:p>
            <a:pPr algn="just" marL="496571" indent="-248285" lvl="1">
              <a:lnSpc>
                <a:spcPts val="3565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Dễ đồng bộ sơ đồ, ảnh chụp mockup hoặc UML.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5429066" cy="10287000"/>
            <a:chOff x="0" y="0"/>
            <a:chExt cx="7238755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0688" t="0" r="10688" b="0"/>
            <a:stretch>
              <a:fillRect/>
            </a:stretch>
          </p:blipFill>
          <p:spPr>
            <a:xfrm flipH="false" flipV="false">
              <a:off x="0" y="0"/>
              <a:ext cx="7238755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7259300" y="0"/>
            <a:ext cx="1694792" cy="10287000"/>
            <a:chOff x="0" y="0"/>
            <a:chExt cx="44636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4636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109187"/>
            <a:ext cx="1028700" cy="3177813"/>
            <a:chOff x="0" y="0"/>
            <a:chExt cx="812800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2558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297118" y="683001"/>
            <a:ext cx="8540534" cy="236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7"/>
              </a:lnSpc>
            </a:pPr>
            <a:r>
              <a:rPr lang="en-US" sz="6776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3. KẾT QUẢ, HẠN CHẾ VÀ HƯỚNG PHÁT TRIỂN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81142" y="4014714"/>
            <a:ext cx="969409" cy="96940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81142" y="5284876"/>
            <a:ext cx="969409" cy="96940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011231" y="1028700"/>
            <a:ext cx="1652841" cy="165284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814124" y="816351"/>
            <a:ext cx="771724" cy="77172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19457" y="8414693"/>
            <a:ext cx="3744615" cy="374461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798349" y="4112068"/>
            <a:ext cx="735182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KẾT QUẢ THU ĐƯỢC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98349" y="5382230"/>
            <a:ext cx="735182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HẠN CHẾ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566894" y="6559085"/>
            <a:ext cx="969409" cy="96940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63500" y="-12700"/>
              <a:ext cx="685800" cy="762000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03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784101" y="6622792"/>
            <a:ext cx="7351823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HƯỚNG PHÁT TRIỂN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12964" y="363609"/>
            <a:ext cx="13961804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3.1. KẾT QUẢ ĐẠT ĐƯỢC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2902" y="6879628"/>
            <a:ext cx="5649052" cy="669452"/>
            <a:chOff x="0" y="0"/>
            <a:chExt cx="3593842" cy="425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VỀ KĨ THUẬT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51064" y="6884986"/>
            <a:ext cx="669452" cy="66945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2902" y="3120022"/>
            <a:ext cx="5649052" cy="669452"/>
            <a:chOff x="0" y="0"/>
            <a:chExt cx="3593842" cy="425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VỀ PHÂN TÍCH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1064" y="3125380"/>
            <a:ext cx="669452" cy="66945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53241" y="7576622"/>
            <a:ext cx="7531255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Áp dụng hiệu quả các kỹ thuật trong SQL như Stored Procedure (nhập điểm), Trigger (ràng buộc dữ liệu khi cập nhật thông tin học sinh)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3241" y="3952875"/>
            <a:ext cx="7755373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Đã xác định rõ quy trình nghiệp vụ trong môi trường giáo dục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Xây </a:t>
            </a: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dựng biểu đồ Us</a:t>
            </a: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e-case, đặc tả yêu cầu chức năng/phi chức năng của hệ thống.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403565" y="3048909"/>
            <a:ext cx="5649052" cy="669452"/>
            <a:chOff x="0" y="0"/>
            <a:chExt cx="3593842" cy="4258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VỀ THIẾT KẾ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581727" y="3054267"/>
            <a:ext cx="669452" cy="66945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583904" y="3793528"/>
            <a:ext cx="6430614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Xây dựng thành công mô hình ERD cho quản lý học sinh, môn học, điểm số,... </a:t>
            </a:r>
          </a:p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Thiết kế giao diện trực quan, thân thiện với người dùng.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5790" y="1732035"/>
            <a:ext cx="16625162" cy="131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5"/>
              </a:lnSpc>
              <a:spcBef>
                <a:spcPct val="0"/>
              </a:spcBef>
            </a:pPr>
            <a:r>
              <a:rPr lang="en-US" sz="381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Sau khi nghiên </a:t>
            </a:r>
            <a:r>
              <a:rPr lang="en-US" sz="381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cứu và thực hiện đồ án, nhóm đã đạt được các kết quả sau:</a:t>
            </a:r>
          </a:p>
          <a:p>
            <a:pPr algn="l">
              <a:lnSpc>
                <a:spcPts val="5335"/>
              </a:lnSpc>
              <a:spcBef>
                <a:spcPct val="0"/>
              </a:spcBef>
            </a:pPr>
          </a:p>
        </p:txBody>
      </p:sp>
      <p:grpSp>
        <p:nvGrpSpPr>
          <p:cNvPr name="Group 29" id="29"/>
          <p:cNvGrpSpPr/>
          <p:nvPr/>
        </p:nvGrpSpPr>
        <p:grpSpPr>
          <a:xfrm rot="0">
            <a:off x="11443016" y="6896379"/>
            <a:ext cx="5649052" cy="669452"/>
            <a:chOff x="0" y="0"/>
            <a:chExt cx="3593842" cy="4258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VỀ SẢN PHẨM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21178" y="6901737"/>
            <a:ext cx="669452" cy="669452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623355" y="7593373"/>
            <a:ext cx="6635945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Hệ thống hỗ trợ các chức năng quản lý cốt lõi: Quản lý học sinh – lớp học, nhập và xem điểm, thảo luận, upload và tải tài liệu,...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12964" y="363609"/>
            <a:ext cx="13961804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3.2. HẠN CHẾ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12964" y="5382347"/>
            <a:ext cx="794246" cy="79424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2964" y="3706656"/>
            <a:ext cx="794246" cy="79424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39266" y="5373131"/>
            <a:ext cx="8935172" cy="75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8"/>
              </a:lnSpc>
            </a:pPr>
            <a:r>
              <a:rPr lang="en-US" sz="415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Tính năng "quên mật khẩu" còn sơ sài.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1848" y="3708740"/>
            <a:ext cx="16646152" cy="75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28"/>
              </a:lnSpc>
            </a:pPr>
            <a:r>
              <a:rPr lang="en-US" sz="415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Chưa tích hợp tính năng tạo bài kiểm tra online (trắc nghiệm, tự luận).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5790" y="1732035"/>
            <a:ext cx="1662516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Tuy vậy, hệ thống hiện vẫn tồn tại một số hạn chế: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2964" y="7058038"/>
            <a:ext cx="794246" cy="79424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39266" y="7037521"/>
            <a:ext cx="10237382" cy="75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8"/>
              </a:lnSpc>
            </a:pPr>
            <a:r>
              <a:rPr lang="en-US" sz="4152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Một số giao diện chưa tối ưu cho người dùng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12964" y="363609"/>
            <a:ext cx="13961804" cy="86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3.3. HƯỚNG PHÁT TRIỂN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2902" y="5309589"/>
            <a:ext cx="5649052" cy="669452"/>
            <a:chOff x="0" y="0"/>
            <a:chExt cx="3593842" cy="425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HỖ TRỢ MOBILE APP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51064" y="5314947"/>
            <a:ext cx="669452" cy="66945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2902" y="3120022"/>
            <a:ext cx="5649052" cy="669452"/>
            <a:chOff x="0" y="0"/>
            <a:chExt cx="3593842" cy="425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ỨNG DỤNG AI CHO GIÁO VIÊN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1064" y="3125380"/>
            <a:ext cx="669452" cy="66945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53241" y="6006583"/>
            <a:ext cx="1638390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Phát triển ứng dụng di động để giáo viên và học sinh dễ dàng sử dụng hệ thống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3241" y="3823408"/>
            <a:ext cx="16957711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Tích hợp AI để gợi ý học sinh có nguy cơ học lực yếu dựa trên dữ liệu điểm số – chuyên cần, và hỗ trợ đề xuất kế hoạch ôn tập.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75079" y="7233920"/>
            <a:ext cx="5649052" cy="669452"/>
            <a:chOff x="0" y="0"/>
            <a:chExt cx="3593842" cy="4258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3841" cy="425895"/>
            </a:xfrm>
            <a:custGeom>
              <a:avLst/>
              <a:gdLst/>
              <a:ahLst/>
              <a:cxnLst/>
              <a:rect r="r" b="b" t="t" l="l"/>
              <a:pathLst>
                <a:path h="425895" w="3593841">
                  <a:moveTo>
                    <a:pt x="3390641" y="0"/>
                  </a:moveTo>
                  <a:cubicBezTo>
                    <a:pt x="3502866" y="0"/>
                    <a:pt x="3593841" y="95340"/>
                    <a:pt x="3593841" y="212948"/>
                  </a:cubicBezTo>
                  <a:cubicBezTo>
                    <a:pt x="3593841" y="330556"/>
                    <a:pt x="3502866" y="425895"/>
                    <a:pt x="3390641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593842" cy="483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NÂNG CẤP TÍNH NĂNG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53241" y="7239278"/>
            <a:ext cx="669452" cy="66945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55418" y="7978539"/>
            <a:ext cx="16955534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Thêm bài kiểm tra dạng quiz với hình thức trắc nghiệm chấm điểm tự đông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Chat riêng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Tích hợp gói SCORM vào lớp học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5790" y="1634482"/>
            <a:ext cx="16625162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Để hệ thống hoàn thiện hơn và </a:t>
            </a:r>
            <a:r>
              <a:rPr lang="en-US" sz="35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có khả năng áp dụng vào thực tế giảng dạy, nhóm đề xuất các hướng nâng cấp sau cho sản phẩm: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251518" cy="10287000"/>
            <a:chOff x="0" y="0"/>
            <a:chExt cx="164649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649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46490">
                  <a:moveTo>
                    <a:pt x="0" y="0"/>
                  </a:moveTo>
                  <a:lnTo>
                    <a:pt x="1646490" y="0"/>
                  </a:lnTo>
                  <a:lnTo>
                    <a:pt x="16464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649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784" y="826994"/>
            <a:ext cx="4374432" cy="2961111"/>
          </a:xfrm>
          <a:custGeom>
            <a:avLst/>
            <a:gdLst/>
            <a:ahLst/>
            <a:cxnLst/>
            <a:rect r="r" b="b" t="t" l="l"/>
            <a:pathLst>
              <a:path h="2961111" w="4374432">
                <a:moveTo>
                  <a:pt x="0" y="0"/>
                </a:moveTo>
                <a:lnTo>
                  <a:pt x="4374432" y="0"/>
                </a:lnTo>
                <a:lnTo>
                  <a:pt x="4374432" y="2961111"/>
                </a:lnTo>
                <a:lnTo>
                  <a:pt x="0" y="2961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53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99292" y="3788105"/>
            <a:ext cx="4796185" cy="3022159"/>
          </a:xfrm>
          <a:custGeom>
            <a:avLst/>
            <a:gdLst/>
            <a:ahLst/>
            <a:cxnLst/>
            <a:rect r="r" b="b" t="t" l="l"/>
            <a:pathLst>
              <a:path h="3022159" w="4796185">
                <a:moveTo>
                  <a:pt x="0" y="0"/>
                </a:moveTo>
                <a:lnTo>
                  <a:pt x="4796184" y="0"/>
                </a:lnTo>
                <a:lnTo>
                  <a:pt x="4796184" y="3022160"/>
                </a:lnTo>
                <a:lnTo>
                  <a:pt x="0" y="3022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93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31455" y="7079876"/>
            <a:ext cx="4499761" cy="3002568"/>
          </a:xfrm>
          <a:custGeom>
            <a:avLst/>
            <a:gdLst/>
            <a:ahLst/>
            <a:cxnLst/>
            <a:rect r="r" b="b" t="t" l="l"/>
            <a:pathLst>
              <a:path h="3002568" w="4499761">
                <a:moveTo>
                  <a:pt x="0" y="0"/>
                </a:moveTo>
                <a:lnTo>
                  <a:pt x="4499761" y="0"/>
                </a:lnTo>
                <a:lnTo>
                  <a:pt x="4499761" y="3002568"/>
                </a:lnTo>
                <a:lnTo>
                  <a:pt x="0" y="3002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9731" y="4216400"/>
            <a:ext cx="4632056" cy="174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 spc="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4. BÀI HỌC KINH NGHIỆM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10510" y="1330523"/>
            <a:ext cx="6488378" cy="1954055"/>
            <a:chOff x="0" y="0"/>
            <a:chExt cx="1708873" cy="514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8873" cy="514648"/>
            </a:xfrm>
            <a:custGeom>
              <a:avLst/>
              <a:gdLst/>
              <a:ahLst/>
              <a:cxnLst/>
              <a:rect r="r" b="b" t="t" l="l"/>
              <a:pathLst>
                <a:path h="514648" w="1708873">
                  <a:moveTo>
                    <a:pt x="60853" y="0"/>
                  </a:moveTo>
                  <a:lnTo>
                    <a:pt x="1648020" y="0"/>
                  </a:lnTo>
                  <a:cubicBezTo>
                    <a:pt x="1681628" y="0"/>
                    <a:pt x="1708873" y="27245"/>
                    <a:pt x="1708873" y="60853"/>
                  </a:cubicBezTo>
                  <a:lnTo>
                    <a:pt x="1708873" y="453795"/>
                  </a:lnTo>
                  <a:cubicBezTo>
                    <a:pt x="1708873" y="487403"/>
                    <a:pt x="1681628" y="514648"/>
                    <a:pt x="1648020" y="514648"/>
                  </a:cubicBezTo>
                  <a:lnTo>
                    <a:pt x="60853" y="514648"/>
                  </a:lnTo>
                  <a:cubicBezTo>
                    <a:pt x="27245" y="514648"/>
                    <a:pt x="0" y="487403"/>
                    <a:pt x="0" y="453795"/>
                  </a:cubicBezTo>
                  <a:lnTo>
                    <a:pt x="0" y="60853"/>
                  </a:lnTo>
                  <a:cubicBezTo>
                    <a:pt x="0" y="27245"/>
                    <a:pt x="27245" y="0"/>
                    <a:pt x="60853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08873" cy="562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10510" y="1493162"/>
            <a:ext cx="6488378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Tầm quan trọng của việc đặc tả yêu cầu chi tiết trước khi code giúp giảm thiểu bug.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51518" y="4322158"/>
            <a:ext cx="6488378" cy="1954055"/>
            <a:chOff x="0" y="0"/>
            <a:chExt cx="1708873" cy="514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8873" cy="514648"/>
            </a:xfrm>
            <a:custGeom>
              <a:avLst/>
              <a:gdLst/>
              <a:ahLst/>
              <a:cxnLst/>
              <a:rect r="r" b="b" t="t" l="l"/>
              <a:pathLst>
                <a:path h="514648" w="1708873">
                  <a:moveTo>
                    <a:pt x="60853" y="0"/>
                  </a:moveTo>
                  <a:lnTo>
                    <a:pt x="1648020" y="0"/>
                  </a:lnTo>
                  <a:cubicBezTo>
                    <a:pt x="1681628" y="0"/>
                    <a:pt x="1708873" y="27245"/>
                    <a:pt x="1708873" y="60853"/>
                  </a:cubicBezTo>
                  <a:lnTo>
                    <a:pt x="1708873" y="453795"/>
                  </a:lnTo>
                  <a:cubicBezTo>
                    <a:pt x="1708873" y="487403"/>
                    <a:pt x="1681628" y="514648"/>
                    <a:pt x="1648020" y="514648"/>
                  </a:cubicBezTo>
                  <a:lnTo>
                    <a:pt x="60853" y="514648"/>
                  </a:lnTo>
                  <a:cubicBezTo>
                    <a:pt x="27245" y="514648"/>
                    <a:pt x="0" y="487403"/>
                    <a:pt x="0" y="453795"/>
                  </a:cubicBezTo>
                  <a:lnTo>
                    <a:pt x="0" y="60853"/>
                  </a:lnTo>
                  <a:cubicBezTo>
                    <a:pt x="0" y="27245"/>
                    <a:pt x="27245" y="0"/>
                    <a:pt x="60853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08873" cy="562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352371" y="4460985"/>
            <a:ext cx="634606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Kinh ng</a:t>
            </a: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hiệm triển khai hiện thực ứng dụng như môi trường khác nhau, thiết kế UI sao cho đẹp mắt và tiện lợi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510510" y="7604133"/>
            <a:ext cx="6488378" cy="1954055"/>
            <a:chOff x="0" y="0"/>
            <a:chExt cx="1708873" cy="514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8873" cy="514648"/>
            </a:xfrm>
            <a:custGeom>
              <a:avLst/>
              <a:gdLst/>
              <a:ahLst/>
              <a:cxnLst/>
              <a:rect r="r" b="b" t="t" l="l"/>
              <a:pathLst>
                <a:path h="514648" w="1708873">
                  <a:moveTo>
                    <a:pt x="60853" y="0"/>
                  </a:moveTo>
                  <a:lnTo>
                    <a:pt x="1648020" y="0"/>
                  </a:lnTo>
                  <a:cubicBezTo>
                    <a:pt x="1681628" y="0"/>
                    <a:pt x="1708873" y="27245"/>
                    <a:pt x="1708873" y="60853"/>
                  </a:cubicBezTo>
                  <a:lnTo>
                    <a:pt x="1708873" y="453795"/>
                  </a:lnTo>
                  <a:cubicBezTo>
                    <a:pt x="1708873" y="487403"/>
                    <a:pt x="1681628" y="514648"/>
                    <a:pt x="1648020" y="514648"/>
                  </a:cubicBezTo>
                  <a:lnTo>
                    <a:pt x="60853" y="514648"/>
                  </a:lnTo>
                  <a:cubicBezTo>
                    <a:pt x="27245" y="514648"/>
                    <a:pt x="0" y="487403"/>
                    <a:pt x="0" y="453795"/>
                  </a:cubicBezTo>
                  <a:lnTo>
                    <a:pt x="0" y="60853"/>
                  </a:lnTo>
                  <a:cubicBezTo>
                    <a:pt x="0" y="27245"/>
                    <a:pt x="27245" y="0"/>
                    <a:pt x="60853" y="0"/>
                  </a:cubicBezTo>
                  <a:close/>
                </a:path>
              </a:pathLst>
            </a:custGeom>
            <a:solidFill>
              <a:srgbClr val="E8ECE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08873" cy="562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510510" y="8009661"/>
            <a:ext cx="648837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Làm việc nhóm hiệu quả, phân chia công việc rõ ràng giúp đảm bảo tiến độ.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42469" y="0"/>
            <a:ext cx="5416831" cy="12022429"/>
            <a:chOff x="0" y="0"/>
            <a:chExt cx="2858770" cy="6344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03496" t="0" r="-1296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7109187"/>
            <a:ext cx="1028700" cy="3177813"/>
            <a:chOff x="0" y="0"/>
            <a:chExt cx="812800" cy="2510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2558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109187"/>
            <a:ext cx="11842469" cy="3177813"/>
            <a:chOff x="0" y="0"/>
            <a:chExt cx="9357013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57013" cy="2510865"/>
            </a:xfrm>
            <a:custGeom>
              <a:avLst/>
              <a:gdLst/>
              <a:ahLst/>
              <a:cxnLst/>
              <a:rect r="r" b="b" t="t" l="l"/>
              <a:pathLst>
                <a:path h="2510865" w="9357013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357013" cy="2558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609914" y="0"/>
            <a:ext cx="1694792" cy="10287000"/>
            <a:chOff x="0" y="0"/>
            <a:chExt cx="446365" cy="2709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46365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53887" y="786854"/>
            <a:ext cx="1977164" cy="197716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23411" y="3643630"/>
            <a:ext cx="10319058" cy="304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</a:pPr>
            <a:r>
              <a:rPr lang="en-US" sz="10400" b="tru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CẢM ƠN THẦY VÀ CÁC BẠN ĐÃ LẮNG NGHE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484493" y="9014056"/>
            <a:ext cx="2545888" cy="254588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DAG7mKVQzxw</dc:identifier>
  <dcterms:modified xsi:type="dcterms:W3CDTF">2011-08-01T06:04:30Z</dcterms:modified>
  <cp:revision>1</cp:revision>
  <dc:title>Bản sao của Business proposal</dc:title>
</cp:coreProperties>
</file>